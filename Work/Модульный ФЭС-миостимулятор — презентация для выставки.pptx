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image" Target="../media/image-5-2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7.png"/><Relationship Id="rId9" Type="http://schemas.openxmlformats.org/officeDocument/2006/relationships/image" Target="../media/image-5-7.png"/><Relationship Id="rId10" Type="http://schemas.openxmlformats.org/officeDocument/2006/relationships/image" Target="../media/image-5-7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1.png"/><Relationship Id="rId5" Type="http://schemas.openxmlformats.org/officeDocument/2006/relationships/image" Target="../media/image-10-1.png"/><Relationship Id="rId6" Type="http://schemas.openxmlformats.org/officeDocument/2006/relationships/image" Target="../media/image-10-1.png"/><Relationship Id="rId7" Type="http://schemas.openxmlformats.org/officeDocument/2006/relationships/image" Target="../media/image-10-1.png"/><Relationship Id="rId8" Type="http://schemas.openxmlformats.org/officeDocument/2006/relationships/image" Target="../media/image-10-1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645920"/>
            <a:ext cx="5943600" cy="59436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291840"/>
            <a:ext cx="3840480" cy="3840480"/>
          </a:xfrm>
          <a:prstGeom prst="ellipse">
            <a:avLst/>
          </a:prstGeom>
          <a:solidFill>
            <a:srgbClr val="02C39A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ВЫСТАВОЧНЫЙ МАКЕТ · НОВАЯ РАЗРАБОТКА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595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Модульный ФЭС-миостимулятор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Стимуляция, синхронизированная с движением пациента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7033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0" descr="icons/bluetoot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79476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07008" y="3703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Беспроводные датчики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37560" y="37033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icons/walkin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379476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04488" y="3703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Фаза движения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035040" y="37033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2" descr="icons/bol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379476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601968" y="3703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Точный импульс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40080" y="4480560"/>
            <a:ext cx="5212080" cy="1920240"/>
          </a:xfrm>
          <a:prstGeom prst="rect">
            <a:avLst>
              <a:gd name="adj" fmla="val 2857"/>
            </a:avLst>
          </a:prstGeom>
          <a:solidFill>
            <a:srgbClr val="E7F1F1"/>
          </a:solidFill>
          <a:ln w="19050">
            <a:solidFill>
              <a:srgbClr val="00A896"/>
            </a:solidFill>
            <a:prstDash val="dash"/>
          </a:ln>
        </p:spPr>
      </p:sp>
      <p:pic>
        <p:nvPicPr>
          <p:cNvPr id="17" name="Image 3" descr="icons/camera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0088" y="4937760"/>
            <a:ext cx="512064" cy="51206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22960" y="54864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МЕСТО ДЛЯ ИЗОБРАЖЕНИЯ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914400" y="576072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 или рендер выставочного макета прибора (общий вид корпуса, пульт, датчик)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6126480" y="5989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9F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Прототип на базе принципов Chattanooga · разработка [Название компании]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6126480" y="6309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Выставка «[название]» · [дата]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Классическая миостимуляция достигла предела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84048" cy="384048"/>
          </a:xfrm>
          <a:prstGeom prst="ellipse">
            <a:avLst/>
          </a:prstGeom>
          <a:solidFill>
            <a:srgbClr val="F4F9F9"/>
          </a:solidFill>
          <a:ln w="15875">
            <a:solidFill>
              <a:srgbClr val="00A896"/>
            </a:solidFill>
            <a:prstDash val="solid"/>
          </a:ln>
        </p:spPr>
      </p:sp>
      <p:pic>
        <p:nvPicPr>
          <p:cNvPr id="5" name="Image 0" descr="icons/question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792224"/>
            <a:ext cx="182880" cy="182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66420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Электроды без обратной связи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143000" y="2020824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Импульс подаётся по заранее заданной программе — вне зависимости от того, что в этот момент делает пациент.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3017520"/>
            <a:ext cx="384048" cy="384048"/>
          </a:xfrm>
          <a:prstGeom prst="ellipse">
            <a:avLst/>
          </a:prstGeom>
          <a:solidFill>
            <a:srgbClr val="F4F9F9"/>
          </a:solidFill>
          <a:ln w="15875">
            <a:solidFill>
              <a:srgbClr val="00A896"/>
            </a:solidFill>
            <a:prstDash val="solid"/>
          </a:ln>
        </p:spPr>
      </p:sp>
      <p:pic>
        <p:nvPicPr>
          <p:cNvPr id="9" name="Image 1" descr="icons/question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3118104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299008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не «видит» пациента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143000" y="3346704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данных о фазе движения, амплитуде и скорости — врач ориентируется только на визуальное наблюдение.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4343400"/>
            <a:ext cx="384048" cy="384048"/>
          </a:xfrm>
          <a:prstGeom prst="ellipse">
            <a:avLst/>
          </a:prstGeom>
          <a:solidFill>
            <a:srgbClr val="F4F9F9"/>
          </a:solidFill>
          <a:ln w="15875">
            <a:solidFill>
              <a:srgbClr val="00A896"/>
            </a:solidFill>
            <a:prstDash val="solid"/>
          </a:ln>
        </p:spPr>
      </p:sp>
      <p:pic>
        <p:nvPicPr>
          <p:cNvPr id="13" name="Image 2" descr="icons/question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4443984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431596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Ограниченная функциональность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143000" y="4672584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Такие приборы (например, Chattanooga) хорошо решают задачу базовой стимуляции мышцы, но не связывают её с реальным движением.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675120" y="1691640"/>
            <a:ext cx="4937760" cy="4114800"/>
          </a:xfrm>
          <a:prstGeom prst="rect">
            <a:avLst>
              <a:gd name="adj" fmla="val 1333"/>
            </a:avLst>
          </a:prstGeom>
          <a:solidFill>
            <a:srgbClr val="E7F1F1"/>
          </a:solidFill>
          <a:ln w="19050">
            <a:solidFill>
              <a:srgbClr val="00A896"/>
            </a:solidFill>
            <a:prstDash val="dash"/>
          </a:ln>
        </p:spPr>
      </p:sp>
      <p:pic>
        <p:nvPicPr>
          <p:cNvPr id="17" name="Image 3" descr="icons/camera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7968" y="3246120"/>
            <a:ext cx="512064" cy="51206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58000" y="3794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МЕСТО ДЛЯ ИЗОБРАЖЕНИЯ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6949440" y="4069080"/>
            <a:ext cx="43891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 классического миостимулятора / электродов на теле пациента (например, референс Chattanooga) для сравнения «было»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Модульный ФЭС-миостимулятор · внутренняя презентация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3D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НАША ИДЕЯ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Стимуляция запускается в момент движения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960120"/>
          </a:xfrm>
          <a:prstGeom prst="rect">
            <a:avLst>
              <a:gd name="adj" fmla="val 7619"/>
            </a:avLst>
          </a:prstGeom>
          <a:solidFill>
            <a:srgbClr val="028090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9164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счёт встроенных датчиков движения стимуляция провоцирует именно движение пациента — а не просто сокращает мышцу «вслепую». Это ключевое отличие от классической ФЭС и максимально эффективно при реабилитации.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3611880" cy="3017520"/>
          </a:xfrm>
          <a:prstGeom prst="roundRect">
            <a:avLst>
              <a:gd name="adj" fmla="val 2424"/>
            </a:avLst>
          </a:prstGeom>
          <a:solidFill>
            <a:srgbClr val="0F4A53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320040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8" name="Image 0" descr="icons/walki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3364992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47472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4FB8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68680" y="397764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Датчик фиксирует фазу движения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68680" y="461772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FD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Беспроводной датчик на теле пациента отслеживает начало и фазу движения в реальном времени.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89120" y="2880360"/>
            <a:ext cx="3611880" cy="3017520"/>
          </a:xfrm>
          <a:prstGeom prst="roundRect">
            <a:avLst>
              <a:gd name="adj" fmla="val 2424"/>
            </a:avLst>
          </a:prstGeom>
          <a:solidFill>
            <a:srgbClr val="0F4A53"/>
          </a:solidFill>
          <a:ln/>
        </p:spPr>
      </p:sp>
      <p:sp>
        <p:nvSpPr>
          <p:cNvPr id="13" name="Shape 10"/>
          <p:cNvSpPr/>
          <p:nvPr/>
        </p:nvSpPr>
        <p:spPr>
          <a:xfrm>
            <a:off x="4709160" y="320040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4" name="Image 1" descr="icons/brai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3364992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31520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4FB8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4709160" y="397764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 определяет момент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4709160" y="461772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FD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Встроенная логика анализирует фазу и рассчитывает точный момент подачи импульса.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229600" y="2880360"/>
            <a:ext cx="3611880" cy="3017520"/>
          </a:xfrm>
          <a:prstGeom prst="roundRect">
            <a:avLst>
              <a:gd name="adj" fmla="val 2424"/>
            </a:avLst>
          </a:prstGeom>
          <a:solidFill>
            <a:srgbClr val="0F4A53"/>
          </a:solidFill>
          <a:ln/>
        </p:spPr>
      </p:sp>
      <p:sp>
        <p:nvSpPr>
          <p:cNvPr id="19" name="Shape 15"/>
          <p:cNvSpPr/>
          <p:nvPr/>
        </p:nvSpPr>
        <p:spPr>
          <a:xfrm>
            <a:off x="8549640" y="320040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0" name="Image 2" descr="icons/bol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4232" y="3364992"/>
            <a:ext cx="310896" cy="31089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15568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4FB8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8549640" y="397764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Импульс усиливает движение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8549640" y="461772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FD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Стимуляция подаётся именно в нужную фазу — движение становится более полным и правильным.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Модульный ФЭС-миостимулятор · внутренняя презентация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Модульный ФЭС-миостимулятор · внутренняя презентация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УСТРОЕНА СИСТЕМА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Архитектура: пульт, блок стимуляции, датчики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108960" cy="2331720"/>
          </a:xfrm>
          <a:prstGeom prst="roundRect">
            <a:avLst>
              <a:gd name="adj" fmla="val 3137"/>
            </a:avLst>
          </a:prstGeom>
          <a:solidFill>
            <a:srgbClr val="F4F9F9"/>
          </a:solidFill>
          <a:ln w="12700">
            <a:solidFill>
              <a:srgbClr val="DCEB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945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icons/slid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3317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8346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Пульт управления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3218688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Настройка программ, запуск, контроль сеанса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794760" y="2958084"/>
            <a:ext cx="502920" cy="256032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10" name="Shape 7"/>
          <p:cNvSpPr/>
          <p:nvPr/>
        </p:nvSpPr>
        <p:spPr>
          <a:xfrm>
            <a:off x="4480560" y="1920240"/>
            <a:ext cx="3200400" cy="2331720"/>
          </a:xfrm>
          <a:prstGeom prst="roundRect">
            <a:avLst>
              <a:gd name="adj" fmla="val 3137"/>
            </a:avLst>
          </a:prstGeom>
          <a:solidFill>
            <a:srgbClr val="028090"/>
          </a:solidFill>
          <a:ln/>
        </p:spPr>
      </p:sp>
      <p:sp>
        <p:nvSpPr>
          <p:cNvPr id="11" name="Shape 8"/>
          <p:cNvSpPr/>
          <p:nvPr/>
        </p:nvSpPr>
        <p:spPr>
          <a:xfrm>
            <a:off x="4800600" y="21945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icons/cogs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33172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54880" y="2834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стимуляции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754880" y="3218688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F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канала на выставочном макете, количество каналов расширяется докупкой модулей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818120" y="2958084"/>
            <a:ext cx="502920" cy="256032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16" name="Shape 12"/>
          <p:cNvSpPr/>
          <p:nvPr/>
        </p:nvSpPr>
        <p:spPr>
          <a:xfrm>
            <a:off x="8503920" y="1920240"/>
            <a:ext cx="3108960" cy="2331720"/>
          </a:xfrm>
          <a:prstGeom prst="roundRect">
            <a:avLst>
              <a:gd name="adj" fmla="val 3137"/>
            </a:avLst>
          </a:prstGeom>
          <a:solidFill>
            <a:srgbClr val="F4F9F9"/>
          </a:solidFill>
          <a:ln w="12700">
            <a:solidFill>
              <a:srgbClr val="DCEBE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823960" y="219456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8" name="Image 2" descr="icons/bluetooth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233172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778240" y="2834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Датчики движения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8778240" y="3218688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Автономные, беспроводные — крепятся на теле по схеме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48640" y="4617720"/>
            <a:ext cx="5486400" cy="1691640"/>
          </a:xfrm>
          <a:prstGeom prst="rect">
            <a:avLst>
              <a:gd name="adj" fmla="val 3243"/>
            </a:avLst>
          </a:prstGeom>
          <a:solidFill>
            <a:srgbClr val="E7F1F1"/>
          </a:solidFill>
          <a:ln w="19050">
            <a:solidFill>
              <a:srgbClr val="00A896"/>
            </a:solidFill>
            <a:prstDash val="dash"/>
          </a:ln>
        </p:spPr>
      </p:sp>
      <p:pic>
        <p:nvPicPr>
          <p:cNvPr id="22" name="Image 3" descr="icons/camera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5808" y="4960620"/>
            <a:ext cx="512064" cy="51206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1520" y="55092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МЕСТО ДЛЯ ИЗОБРАЖЕНИЯ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822960" y="5783580"/>
            <a:ext cx="4937760" cy="434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размещения датчиков и электродов на теле пациента (пример конечности)</a:t>
            </a:r>
            <a:endParaRPr lang="en-US" sz="1050" dirty="0"/>
          </a:p>
        </p:txBody>
      </p:sp>
      <p:pic>
        <p:nvPicPr>
          <p:cNvPr id="25" name="Image 4" descr="icons/check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4709160"/>
            <a:ext cx="21945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675120" y="463600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Модульность: количество каналов стимуляции наращивается под задачи клиники</a:t>
            </a:r>
            <a:endParaRPr lang="en-US" sz="1250" dirty="0"/>
          </a:p>
        </p:txBody>
      </p:sp>
      <p:pic>
        <p:nvPicPr>
          <p:cNvPr id="27" name="Image 5" descr="icons/check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5486400"/>
            <a:ext cx="219456" cy="21945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675120" y="541324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Датчики не требуют проводного подключения — быстрая установка на приёме</a:t>
            </a:r>
            <a:endParaRPr lang="en-US" sz="1250" dirty="0"/>
          </a:p>
        </p:txBody>
      </p:sp>
      <p:sp>
        <p:nvSpPr>
          <p:cNvPr id="29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Модульный ФЭС-миостимулятор · внутренняя презентация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ПРОДУКТОВАЯ ЛИНЕЙКА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Два сценария применения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0B3D45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574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icons/hospita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1945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574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Реабилитационные центры</a:t>
            </a:r>
            <a:endParaRPr lang="en-US" sz="1650" dirty="0"/>
          </a:p>
        </p:txBody>
      </p:sp>
      <p:pic>
        <p:nvPicPr>
          <p:cNvPr id="8" name="Image 1" descr="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80360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80720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DE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с пульта врачом</a:t>
            </a:r>
            <a:endParaRPr lang="en-US" sz="1250" dirty="0"/>
          </a:p>
        </p:txBody>
      </p:sp>
      <p:pic>
        <p:nvPicPr>
          <p:cNvPr id="10" name="Image 2" descr="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47288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3374136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DE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Расширенные настройки программ стимуляции</a:t>
            </a:r>
            <a:endParaRPr lang="en-US" sz="1250" dirty="0"/>
          </a:p>
        </p:txBody>
      </p:sp>
      <p:pic>
        <p:nvPicPr>
          <p:cNvPr id="12" name="Image 3" descr="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014216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34440" y="3941064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DE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Более высокий диапазон интенсивности (в % от максимума)</a:t>
            </a:r>
            <a:endParaRPr lang="en-US" sz="1250" dirty="0"/>
          </a:p>
        </p:txBody>
      </p:sp>
      <p:pic>
        <p:nvPicPr>
          <p:cNvPr id="14" name="Image 4" descr="icon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581144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234440" y="450799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DE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Ручная и точная подстройка под пациента</a:t>
            </a:r>
            <a:endParaRPr lang="en-US" sz="1250" dirty="0"/>
          </a:p>
        </p:txBody>
      </p:sp>
      <p:sp>
        <p:nvSpPr>
          <p:cNvPr id="16" name="Text 9"/>
          <p:cNvSpPr/>
          <p:nvPr/>
        </p:nvSpPr>
        <p:spPr>
          <a:xfrm>
            <a:off x="914400" y="51663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F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Ориентир интенсивности: соответствует прежней шкале до 150 мА</a:t>
            </a:r>
            <a:endParaRPr lang="en-US" sz="1050" dirty="0"/>
          </a:p>
        </p:txBody>
      </p:sp>
      <p:sp>
        <p:nvSpPr>
          <p:cNvPr id="17" name="Shape 10"/>
          <p:cNvSpPr/>
          <p:nvPr/>
        </p:nvSpPr>
        <p:spPr>
          <a:xfrm>
            <a:off x="6263640" y="173736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F4F9F9"/>
          </a:solidFill>
          <a:ln w="12700">
            <a:solidFill>
              <a:srgbClr val="DCEBEA"/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>
            <a:off x="6629400" y="20574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9" name="Image 5" descr="icons/hom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2194560"/>
            <a:ext cx="274320" cy="27432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315200" y="20574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Домашнее использование</a:t>
            </a:r>
            <a:endParaRPr lang="en-US" sz="1650" dirty="0"/>
          </a:p>
        </p:txBody>
      </p:sp>
      <p:pic>
        <p:nvPicPr>
          <p:cNvPr id="21" name="Image 6" descr="icons/check_te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2880360"/>
            <a:ext cx="201168" cy="201168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949440" y="280720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готовые программы — без ручной настройки</a:t>
            </a:r>
            <a:endParaRPr lang="en-US" sz="1250" dirty="0"/>
          </a:p>
        </p:txBody>
      </p:sp>
      <p:pic>
        <p:nvPicPr>
          <p:cNvPr id="23" name="Image 7" descr="icons/check_tea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400" y="3447288"/>
            <a:ext cx="201168" cy="201168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6949440" y="3374136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Надел датчики по схеме → 2-3 калибровочных движения → запуск программы</a:t>
            </a:r>
            <a:endParaRPr lang="en-US" sz="1250" dirty="0"/>
          </a:p>
        </p:txBody>
      </p:sp>
      <p:pic>
        <p:nvPicPr>
          <p:cNvPr id="25" name="Image 8" descr="icons/check_tea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9400" y="4014216"/>
            <a:ext cx="201168" cy="201168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6949440" y="3941064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Более низкий диапазон интенсивности (в % от максимума)</a:t>
            </a:r>
            <a:endParaRPr lang="en-US" sz="1250" dirty="0"/>
          </a:p>
        </p:txBody>
      </p:sp>
      <p:pic>
        <p:nvPicPr>
          <p:cNvPr id="27" name="Image 9" descr="icons/check_teal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29400" y="4581144"/>
            <a:ext cx="201168" cy="201168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6949440" y="450799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Простой и безопасный интерфейс для пациента</a:t>
            </a:r>
            <a:endParaRPr lang="en-US" sz="1250" dirty="0"/>
          </a:p>
        </p:txBody>
      </p:sp>
      <p:sp>
        <p:nvSpPr>
          <p:cNvPr id="29" name="Text 17"/>
          <p:cNvSpPr/>
          <p:nvPr/>
        </p:nvSpPr>
        <p:spPr>
          <a:xfrm>
            <a:off x="6629400" y="51663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Ориентир интенсивности: соответствует прежней шкале до 100 мА</a:t>
            </a:r>
            <a:endParaRPr lang="en-US" sz="1050" dirty="0"/>
          </a:p>
        </p:txBody>
      </p:sp>
      <p:sp>
        <p:nvSpPr>
          <p:cNvPr id="3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Модульный ФЭС-миостимулятор · внутренняя презентация</a:t>
            </a:r>
            <a:endParaRPr lang="en-US" sz="900" dirty="0"/>
          </a:p>
        </p:txBody>
      </p:sp>
      <p:sp>
        <p:nvSpPr>
          <p:cNvPr id="31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Единая понятная шкала — проценты вместо мА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6583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отказываемся от отображения силы тока в миллиамперах и показываем интенсивность стимуляции в процентах (%) от индивидуального рабочего диапазона.</a:t>
            </a:r>
            <a:endParaRPr lang="en-US" sz="1500" dirty="0"/>
          </a:p>
        </p:txBody>
      </p:sp>
      <p:pic>
        <p:nvPicPr>
          <p:cNvPr id="5" name="Image 0" descr="icons/chec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063240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3008376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привязки к единицам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914400" y="3319272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Пациенту и врачу не нужно разбираться в электрических параметрах — только понятная относительная шкала.</a:t>
            </a:r>
            <a:endParaRPr lang="en-US" sz="1150" dirty="0"/>
          </a:p>
        </p:txBody>
      </p:sp>
      <p:pic>
        <p:nvPicPr>
          <p:cNvPr id="8" name="Image 1" descr="icons/check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931920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3877056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Единый язык для двух веток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914400" y="4187952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реабцентр, и домашний пользователь работают в одной логике «0–100%», хотя физический диапазон различается.</a:t>
            </a:r>
            <a:endParaRPr lang="en-US" sz="1150" dirty="0"/>
          </a:p>
        </p:txBody>
      </p:sp>
      <p:pic>
        <p:nvPicPr>
          <p:cNvPr id="11" name="Image 2" descr="icons/check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800600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14400" y="4745736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Безопаснее по восприятию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914400" y="5056632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Проценты снижают риск некорректной интерпретации значений пациентом дома.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7589520" y="1737360"/>
            <a:ext cx="4023360" cy="4114800"/>
          </a:xfrm>
          <a:prstGeom prst="roundRect">
            <a:avLst>
              <a:gd name="adj" fmla="val 2273"/>
            </a:avLst>
          </a:prstGeom>
          <a:solidFill>
            <a:srgbClr val="0B3D45"/>
          </a:solidFill>
          <a:ln/>
        </p:spPr>
      </p:sp>
      <p:sp>
        <p:nvSpPr>
          <p:cNvPr id="15" name="Text 10"/>
          <p:cNvSpPr/>
          <p:nvPr/>
        </p:nvSpPr>
        <p:spPr>
          <a:xfrm>
            <a:off x="7955280" y="20574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ЭКРАНЕ ПАЦИЕНТ ВИДИТ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7955280" y="233172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68%</a:t>
            </a:r>
            <a:endParaRPr lang="en-US" sz="6400" dirty="0"/>
          </a:p>
        </p:txBody>
      </p:sp>
      <p:sp>
        <p:nvSpPr>
          <p:cNvPr id="17" name="Text 12"/>
          <p:cNvSpPr/>
          <p:nvPr/>
        </p:nvSpPr>
        <p:spPr>
          <a:xfrm>
            <a:off x="7955280" y="35204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D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Интенсивность стимуляции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7955280" y="4069080"/>
            <a:ext cx="3291840" cy="0"/>
          </a:xfrm>
          <a:prstGeom prst="line">
            <a:avLst/>
          </a:prstGeom>
          <a:noFill/>
          <a:ln w="12700">
            <a:solidFill>
              <a:srgbClr val="2A6570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7955280" y="42519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FB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ВНУТРИ СИСТЕМЫ (не показывается)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7955280" y="4526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E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Реабцентр: до 150 мА  ·  Дом: до 100 мА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7955280" y="50292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7FB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Точная формула перевода % → мА уточняется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Модульный ФЭС-миостимулятор · внутренняя презентация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ДОМАШНИЙ СЦЕНАРИЙ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 установки датчиков до запуска — 3 шага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4F9F9"/>
          </a:solidFill>
          <a:ln w="12700">
            <a:solidFill>
              <a:srgbClr val="DCEB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5740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icons/mark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221992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78892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Разместить датчики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68680" y="32004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Пациент крепит беспроводные датчики на теле согласно наглядной схеме.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187952" y="2830068"/>
            <a:ext cx="182880" cy="237744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10" name="Shape 7"/>
          <p:cNvSpPr/>
          <p:nvPr/>
        </p:nvSpPr>
        <p:spPr>
          <a:xfrm>
            <a:off x="4389120" y="178308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4F9F9"/>
          </a:solidFill>
          <a:ln w="12700">
            <a:solidFill>
              <a:srgbClr val="DCEB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205740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icons/walkin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2221992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9160" y="278892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Калибровка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709160" y="32004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контрольных движения — система определяет индивидуальный диапазон.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028432" y="2830068"/>
            <a:ext cx="182880" cy="237744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16" name="Shape 12"/>
          <p:cNvSpPr/>
          <p:nvPr/>
        </p:nvSpPr>
        <p:spPr>
          <a:xfrm>
            <a:off x="8229600" y="178308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4F9F9"/>
          </a:solidFill>
          <a:ln w="12700">
            <a:solidFill>
              <a:srgbClr val="DCEBE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549640" y="205740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2" descr="icons/play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4232" y="2221992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49640" y="278892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Запуск программы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8549640" y="32004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готовой программы одним нажатием — без ручных настроек.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48640" y="4343400"/>
            <a:ext cx="5486400" cy="1965960"/>
          </a:xfrm>
          <a:prstGeom prst="rect">
            <a:avLst>
              <a:gd name="adj" fmla="val 2791"/>
            </a:avLst>
          </a:prstGeom>
          <a:solidFill>
            <a:srgbClr val="E7F1F1"/>
          </a:solidFill>
          <a:ln w="19050">
            <a:solidFill>
              <a:srgbClr val="00A896"/>
            </a:solidFill>
            <a:prstDash val="dash"/>
          </a:ln>
        </p:spPr>
      </p:sp>
      <p:pic>
        <p:nvPicPr>
          <p:cNvPr id="22" name="Image 3" descr="icons/camera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5808" y="4823460"/>
            <a:ext cx="512064" cy="51206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1520" y="53721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МЕСТО ДЛЯ ИЗОБРАЖЕНИЯ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822960" y="5646420"/>
            <a:ext cx="4937760" cy="571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Иллюстрация или скриншот интерфейса шага калибровки (2–3 движения)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6263640" y="4343400"/>
            <a:ext cx="5349240" cy="1965960"/>
          </a:xfrm>
          <a:prstGeom prst="rect">
            <a:avLst>
              <a:gd name="adj" fmla="val 2791"/>
            </a:avLst>
          </a:prstGeom>
          <a:solidFill>
            <a:srgbClr val="E7F1F1"/>
          </a:solidFill>
          <a:ln w="19050">
            <a:solidFill>
              <a:srgbClr val="00A896"/>
            </a:solidFill>
            <a:prstDash val="dash"/>
          </a:ln>
        </p:spPr>
      </p:sp>
      <p:pic>
        <p:nvPicPr>
          <p:cNvPr id="26" name="Image 4" descr="icons/camera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2228" y="4823460"/>
            <a:ext cx="512064" cy="51206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446520" y="5372100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МЕСТО ДЛЯ ИЗОБРАЖЕНИЯ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6537960" y="5646420"/>
            <a:ext cx="4800600" cy="571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экрана выбора готовой программы для домашнего пользователя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Модульный ФЭС-миостимулятор · внутренняя презентация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ПРОГРЕСС ПАЦИЕНТА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Статистика и гониометрический профиль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обоих сценариях — и в реабцентре, и дома — система накапливает статистику сеансов и строит гониометрический профиль пациента. Это наглядно показывает динамику восстановления амплитуды и качества движения.</a:t>
            </a:r>
            <a:endParaRPr lang="en-US" sz="1400" dirty="0"/>
          </a:p>
        </p:txBody>
      </p:sp>
      <p:pic>
        <p:nvPicPr>
          <p:cNvPr id="5" name="Image 0" descr="icons/chart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337560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3282696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Гониометрический профиль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358444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Диапазон и траектория движения сустава по сеансам</a:t>
            </a:r>
            <a:endParaRPr lang="en-US" sz="1100" dirty="0"/>
          </a:p>
        </p:txBody>
      </p:sp>
      <p:pic>
        <p:nvPicPr>
          <p:cNvPr id="8" name="Image 1" descr="icons/chart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0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4059936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сеансов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914400" y="436168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Динамика интенсивности (%) и длительности тренировок</a:t>
            </a:r>
            <a:endParaRPr lang="en-US" sz="1100" dirty="0"/>
          </a:p>
        </p:txBody>
      </p:sp>
      <p:pic>
        <p:nvPicPr>
          <p:cNvPr id="11" name="Image 2" descr="icons/chart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892040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14400" y="4837176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Наглядность для врача и пациента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914400" y="513892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Простая визуализация прогресса без сложных цифр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6263640" y="1691640"/>
            <a:ext cx="5349240" cy="4572000"/>
          </a:xfrm>
          <a:prstGeom prst="rect">
            <a:avLst>
              <a:gd name="adj" fmla="val 1200"/>
            </a:avLst>
          </a:prstGeom>
          <a:solidFill>
            <a:srgbClr val="E7F1F1"/>
          </a:solidFill>
          <a:ln w="19050">
            <a:solidFill>
              <a:srgbClr val="00A896"/>
            </a:solidFill>
            <a:prstDash val="dash"/>
          </a:ln>
        </p:spPr>
      </p:sp>
      <p:pic>
        <p:nvPicPr>
          <p:cNvPr id="15" name="Image 3" descr="icons/camera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2228" y="3474720"/>
            <a:ext cx="512064" cy="51206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446520" y="4023360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МЕСТО ДЛЯ ИЗОБРАЖЕНИЯ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6537960" y="4297680"/>
            <a:ext cx="48006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графика/дашборда гониометрического профиля пациента и статистики прогресса по сеансам</a:t>
            </a:r>
            <a:endParaRPr lang="en-US" sz="1050" dirty="0"/>
          </a:p>
        </p:txBody>
      </p:sp>
      <p:sp>
        <p:nvSpPr>
          <p:cNvPr id="18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Модульный ФЭС-миостимулятор · внутренняя презентация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D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ПРЕИМУЩЕСТВА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это работает лучше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0F4A53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icons/walki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002536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5146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Стимуляция в фазу движения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22960" y="297180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FD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Провоцирует реальное функциональное движение, а не изолированное сокращение мышцы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89120" y="160020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0F4A53"/>
          </a:solidFill>
          <a:ln/>
        </p:spPr>
      </p:sp>
      <p:sp>
        <p:nvSpPr>
          <p:cNvPr id="10" name="Shape 7"/>
          <p:cNvSpPr/>
          <p:nvPr/>
        </p:nvSpPr>
        <p:spPr>
          <a:xfrm>
            <a:off x="4663440" y="187452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1" name="Image 1" descr="icons/expan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2002536"/>
            <a:ext cx="246888" cy="2468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25146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Модульность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663440" y="297180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FD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2 каналов на старте — количество наращивается под задачи клиники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229600" y="160020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0F4A53"/>
          </a:solidFill>
          <a:ln/>
        </p:spPr>
      </p:sp>
      <p:sp>
        <p:nvSpPr>
          <p:cNvPr id="15" name="Shape 11"/>
          <p:cNvSpPr/>
          <p:nvPr/>
        </p:nvSpPr>
        <p:spPr>
          <a:xfrm>
            <a:off x="8503920" y="187452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2" descr="icons/slid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2002536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03920" y="25146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Понятная шкала %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503920" y="297180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FD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Единый интуитивный интерфейс без привязки к мА, для клиники и дома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416052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0F4A53"/>
          </a:solidFill>
          <a:ln/>
        </p:spPr>
      </p:sp>
      <p:sp>
        <p:nvSpPr>
          <p:cNvPr id="20" name="Shape 15"/>
          <p:cNvSpPr/>
          <p:nvPr/>
        </p:nvSpPr>
        <p:spPr>
          <a:xfrm>
            <a:off x="822960" y="443484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1" name="Image 3" descr="icons/bluetooth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4562856"/>
            <a:ext cx="246888" cy="2468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" y="50749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Автономные беспроводные датчики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22960" y="553212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FD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Быстрая установка без проводов, удобно и в клинике, и дома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89120" y="416052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0F4A53"/>
          </a:solidFill>
          <a:ln/>
        </p:spPr>
      </p:sp>
      <p:sp>
        <p:nvSpPr>
          <p:cNvPr id="25" name="Shape 19"/>
          <p:cNvSpPr/>
          <p:nvPr/>
        </p:nvSpPr>
        <p:spPr>
          <a:xfrm>
            <a:off x="4663440" y="443484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6" name="Image 4" descr="icons/char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456" y="4562856"/>
            <a:ext cx="246888" cy="2468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63440" y="50749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Объективный прогресс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663440" y="553212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FD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Гониометрический профиль и статистика показывают динамику восстановления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229600" y="416052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0F4A53"/>
          </a:solidFill>
          <a:ln/>
        </p:spPr>
      </p:sp>
      <p:sp>
        <p:nvSpPr>
          <p:cNvPr id="30" name="Shape 23"/>
          <p:cNvSpPr/>
          <p:nvPr/>
        </p:nvSpPr>
        <p:spPr>
          <a:xfrm>
            <a:off x="8503920" y="443484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1" name="Image 5" descr="icons/cogs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1936" y="4562856"/>
            <a:ext cx="246888" cy="24688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503920" y="50749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сценария из одной платформы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503920" y="553212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FD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Общая технологическая база для реабцентров и домашнего использования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Модульный ФЭС-миостимулятор · внутренняя презентация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СТЕНДА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ещё уточняется — как отвечать на вопросы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FFF4E5"/>
          </a:solidFill>
          <a:ln w="12700">
            <a:solidFill>
              <a:srgbClr val="F0C3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8308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Ниже — вопросы, ответы на которые пока в проработке. Если гость спрашивает про них — честно говорим: «уточняется, финальные параметры будут объявлены при выходе на рынок».</a:t>
            </a:r>
            <a:endParaRPr lang="en-US" sz="1250" dirty="0"/>
          </a:p>
        </p:txBody>
      </p:sp>
      <p:pic>
        <p:nvPicPr>
          <p:cNvPr id="6" name="Image 0" descr="icons/question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88920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697480"/>
            <a:ext cx="5166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датчиков движения (IMU / гониометр / ЭМГ или комбинация)</a:t>
            </a:r>
            <a:endParaRPr lang="en-US" sz="1200" dirty="0"/>
          </a:p>
        </p:txBody>
      </p:sp>
      <p:pic>
        <p:nvPicPr>
          <p:cNvPr id="8" name="Image 1" descr="icons/question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788920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675120" y="2697480"/>
            <a:ext cx="5166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Точные параметры импульса: частота, длительность, форма волны</a:t>
            </a:r>
            <a:endParaRPr lang="en-US" sz="1200" dirty="0"/>
          </a:p>
        </p:txBody>
      </p:sp>
      <p:pic>
        <p:nvPicPr>
          <p:cNvPr id="10" name="Image 2" descr="icons/question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0"/>
            <a:ext cx="219456" cy="2194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68680" y="3566160"/>
            <a:ext cx="5166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 медизделия и сертификация</a:t>
            </a:r>
            <a:endParaRPr lang="en-US" sz="1200" dirty="0"/>
          </a:p>
        </p:txBody>
      </p:sp>
      <p:pic>
        <p:nvPicPr>
          <p:cNvPr id="12" name="Image 3" descr="icons/question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657600"/>
            <a:ext cx="219456" cy="2194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675120" y="3566160"/>
            <a:ext cx="5166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Клиническая доказательная база и планируемые клинические сценарии</a:t>
            </a:r>
            <a:endParaRPr lang="en-US" sz="1200" dirty="0"/>
          </a:p>
        </p:txBody>
      </p:sp>
      <p:pic>
        <p:nvPicPr>
          <p:cNvPr id="14" name="Image 4" descr="icons/question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526280"/>
            <a:ext cx="219456" cy="21945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68680" y="4434840"/>
            <a:ext cx="5166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Латентность алгоритма между детекцией движения и стимуляцией</a:t>
            </a:r>
            <a:endParaRPr lang="en-US" sz="1200" dirty="0"/>
          </a:p>
        </p:txBody>
      </p:sp>
      <p:pic>
        <p:nvPicPr>
          <p:cNvPr id="16" name="Image 5" descr="icons/question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4526280"/>
            <a:ext cx="219456" cy="219456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675120" y="4434840"/>
            <a:ext cx="5166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Цена, комплектация и сроки вывода на рынок</a:t>
            </a:r>
            <a:endParaRPr lang="en-US" sz="1200" dirty="0"/>
          </a:p>
        </p:txBody>
      </p:sp>
      <p:pic>
        <p:nvPicPr>
          <p:cNvPr id="18" name="Image 6" descr="icons/question_te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5394960"/>
            <a:ext cx="219456" cy="219456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868680" y="5303520"/>
            <a:ext cx="5166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Формула перевода % интенсивности в мА</a:t>
            </a:r>
            <a:endParaRPr lang="en-US" sz="1200" dirty="0"/>
          </a:p>
        </p:txBody>
      </p:sp>
      <p:pic>
        <p:nvPicPr>
          <p:cNvPr id="20" name="Image 7" descr="icons/question_tea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5394960"/>
            <a:ext cx="219456" cy="219456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6675120" y="5303520"/>
            <a:ext cx="5166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 интерфейса домашней программы (приложение / экран устройства)</a:t>
            </a:r>
            <a:endParaRPr lang="en-US" sz="1200" dirty="0"/>
          </a:p>
        </p:txBody>
      </p:sp>
      <p:sp>
        <p:nvSpPr>
          <p:cNvPr id="22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Модульный ФЭС-миостимулятор · внутренняя презентация</a:t>
            </a:r>
            <a:endParaRPr lang="en-US" sz="900" dirty="0"/>
          </a:p>
        </p:txBody>
      </p:sp>
      <p:sp>
        <p:nvSpPr>
          <p:cNvPr id="23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3D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1945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Вопросы и обратная связь — приветствуются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5120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Контакты команды: [указать]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5486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Материал для внутреннего использования · [дата]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Модульный ФЭС-миостимулятор · внутренняя презентация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Модульный ФЭС-миостимулятор · внутренняя презентация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2026-07-29T08:28:28Z</dcterms:created>
  <dcterms:modified xsi:type="dcterms:W3CDTF">2026-07-29T08:28:28Z</dcterms:modified>
</cp:coreProperties>
</file>